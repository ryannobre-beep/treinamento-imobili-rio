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Relationship Id="rId7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6.png"/><Relationship Id="rId5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5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FAE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11150" y="1418163"/>
            <a:ext cx="81375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Treinamento:</a:t>
            </a:r>
            <a:r>
              <a:rPr lang="en-US" sz="4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Sinistros</a:t>
            </a:r>
            <a:r>
              <a:rPr b="1" lang="en-US" sz="4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4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4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Assistências 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11150" y="2948028"/>
            <a:ext cx="6217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Como registrar, acompanhar e resolver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sinistros e acionamentos de assistências!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0" y="4773293"/>
            <a:ext cx="9144000" cy="370200"/>
          </a:xfrm>
          <a:prstGeom prst="rect">
            <a:avLst/>
          </a:prstGeom>
          <a:solidFill>
            <a:srgbClr val="FAE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" name="Google Shape;20;p3" title="Group 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3775" y="529619"/>
            <a:ext cx="3716444" cy="37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 rot="-5542695">
            <a:off x="4933909" y="466476"/>
            <a:ext cx="5393245" cy="3228998"/>
          </a:xfrm>
          <a:prstGeom prst="rtTriangle">
            <a:avLst/>
          </a:prstGeom>
          <a:solidFill>
            <a:srgbClr val="BEA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&#10;&#10;O conteúdo gerado por IA pode estar incorreto." id="22" name="Google Shape;22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96318" y="2221503"/>
            <a:ext cx="7841325" cy="292200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/>
          <p:nvPr/>
        </p:nvSpPr>
        <p:spPr>
          <a:xfrm>
            <a:off x="365100" y="4773293"/>
            <a:ext cx="82296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Passo a passo completo para as Assessoras de </a:t>
            </a:r>
            <a:r>
              <a:rPr b="1" lang="en-US" sz="1200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Manutenção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457200" y="0"/>
            <a:ext cx="8412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vamos ver nesse treinamento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5760" y="987552"/>
            <a:ext cx="548640" cy="713232"/>
          </a:xfrm>
          <a:prstGeom prst="roundRect">
            <a:avLst>
              <a:gd fmla="val 16667" name="adj"/>
            </a:avLst>
          </a:prstGeom>
          <a:solidFill>
            <a:srgbClr val="1E5F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65760" y="987552"/>
            <a:ext cx="548640" cy="713232"/>
          </a:xfrm>
          <a:prstGeom prst="roundRect">
            <a:avLst>
              <a:gd fmla="val 16667" name="adj"/>
            </a:avLst>
          </a:prstGeom>
          <a:solidFill>
            <a:srgbClr val="1A2B5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051560" y="1024128"/>
            <a:ext cx="77266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234440" y="1088129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Sinistro × Assistência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234440" y="1362449"/>
            <a:ext cx="7406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Entenda a diferença essencial antes de qualquer acionamento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65760" y="1993392"/>
            <a:ext cx="548640" cy="713232"/>
          </a:xfrm>
          <a:prstGeom prst="roundRect">
            <a:avLst>
              <a:gd fmla="val 16667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65760" y="1993392"/>
            <a:ext cx="548640" cy="713232"/>
          </a:xfrm>
          <a:prstGeom prst="roundRect">
            <a:avLst>
              <a:gd fmla="val 16667" name="adj"/>
            </a:avLst>
          </a:prstGeom>
          <a:solidFill>
            <a:srgbClr val="1A2B5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051560" y="2029968"/>
            <a:ext cx="77266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1234440" y="2103119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Processo de Abertura de Sinistro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234440" y="2377439"/>
            <a:ext cx="7406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Do primeiro contato até o pagamento — passo a passo completo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65760" y="2999232"/>
            <a:ext cx="548640" cy="713232"/>
          </a:xfrm>
          <a:prstGeom prst="roundRect">
            <a:avLst>
              <a:gd fmla="val 16667" name="adj"/>
            </a:avLst>
          </a:prstGeom>
          <a:solidFill>
            <a:srgbClr val="1A2B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65760" y="2999232"/>
            <a:ext cx="548640" cy="713232"/>
          </a:xfrm>
          <a:prstGeom prst="roundRect">
            <a:avLst>
              <a:gd fmla="val 16667" name="adj"/>
            </a:avLst>
          </a:prstGeom>
          <a:solidFill>
            <a:srgbClr val="1A2B5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051560" y="3035808"/>
            <a:ext cx="77266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1234440" y="3099821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Documentação necessária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234440" y="3374141"/>
            <a:ext cx="7406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O que solicitar em cada tipo de cobertura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65760" y="4005072"/>
            <a:ext cx="548640" cy="713232"/>
          </a:xfrm>
          <a:prstGeom prst="roundRect">
            <a:avLst>
              <a:gd fmla="val 16667" name="adj"/>
            </a:avLst>
          </a:prstGeom>
          <a:solidFill>
            <a:srgbClr val="D462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365760" y="4005072"/>
            <a:ext cx="548640" cy="713232"/>
          </a:xfrm>
          <a:prstGeom prst="roundRect">
            <a:avLst>
              <a:gd fmla="val 16667" name="adj"/>
            </a:avLst>
          </a:prstGeom>
          <a:solidFill>
            <a:srgbClr val="1A2B5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051560" y="4041648"/>
            <a:ext cx="77266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234478" y="4096661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Acionamento de Assistência 24h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234478" y="4370981"/>
            <a:ext cx="7406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Chaveiro, eletricista e encanador emergencial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0" y="0"/>
            <a:ext cx="8909100" cy="759000"/>
          </a:xfrm>
          <a:prstGeom prst="rect">
            <a:avLst/>
          </a:prstGeom>
          <a:solidFill>
            <a:srgbClr val="1A2B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8909400" y="0"/>
            <a:ext cx="234600" cy="759000"/>
          </a:xfrm>
          <a:prstGeom prst="rect">
            <a:avLst/>
          </a:prstGeom>
          <a:solidFill>
            <a:srgbClr val="FAE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274323" y="205775"/>
            <a:ext cx="7945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100"/>
              <a:buFont typeface="Calibri"/>
              <a:buNone/>
            </a:pPr>
            <a:r>
              <a:rPr b="1" i="0" lang="en-US" sz="1800" u="none" cap="none" strike="noStrike">
                <a:solidFill>
                  <a:srgbClr val="FAE100"/>
                </a:solidFill>
                <a:latin typeface="Calibri"/>
                <a:ea typeface="Calibri"/>
                <a:cs typeface="Calibri"/>
                <a:sym typeface="Calibri"/>
              </a:rPr>
              <a:t>CONCEITO FUNDAMENTAL </a:t>
            </a:r>
            <a:r>
              <a:rPr b="1" lang="en-US" sz="1800">
                <a:solidFill>
                  <a:srgbClr val="FAE100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i="0" lang="en-US" sz="1800" u="none" cap="none" strike="noStrike">
                <a:solidFill>
                  <a:srgbClr val="FAE1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Sinistro × Assistência — qual é a diferença?</a:t>
            </a:r>
            <a:endParaRPr b="1" sz="1800">
              <a:solidFill>
                <a:srgbClr val="FAE1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65760" y="960120"/>
            <a:ext cx="3931800" cy="3794700"/>
          </a:xfrm>
          <a:prstGeom prst="rect">
            <a:avLst/>
          </a:prstGeom>
          <a:solidFill>
            <a:srgbClr val="FDEAEA"/>
          </a:solidFill>
          <a:ln>
            <a:noFill/>
          </a:ln>
          <a:effectLst>
            <a:outerShdw blurRad="889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365760" y="960120"/>
            <a:ext cx="3931800" cy="549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502920" y="1051560"/>
            <a:ext cx="3657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⚠️  SINISTRO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02920" y="1554480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Ocorrência que gera prejuízo material coberto pela apólice.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02920" y="2057400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• Incêndio no </a:t>
            </a:r>
            <a:r>
              <a:rPr lang="en-US" sz="1100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imóvel (Parte estrutural e conteúdo)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02920" y="2551176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• Vendaval que destruiu telhado ou janelas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02845" y="3044942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100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Perda de Aluguel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02920" y="4343400"/>
            <a:ext cx="3657600" cy="2925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502920" y="4343400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Registro via link + curadoria de docs + análise seguradora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343400" y="2286000"/>
            <a:ext cx="457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846320" y="960120"/>
            <a:ext cx="3931800" cy="3794700"/>
          </a:xfrm>
          <a:prstGeom prst="rect">
            <a:avLst/>
          </a:prstGeom>
          <a:solidFill>
            <a:srgbClr val="EAF7F0"/>
          </a:solidFill>
          <a:ln>
            <a:noFill/>
          </a:ln>
          <a:effectLst>
            <a:outerShdw blurRad="889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4846320" y="960120"/>
            <a:ext cx="3931800" cy="549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983480" y="1051560"/>
            <a:ext cx="3657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🔧  ASSISTÊNCIA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983480" y="1554480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Serviço emergencial incluído na apólice — resolvido na hora.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983480" y="2057400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• Porta princi</a:t>
            </a:r>
            <a:r>
              <a:rPr lang="en-US" sz="1100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pal </a:t>
            </a: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trancada — chaveiro emergencial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983480" y="2551176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• Curto-circuito / chuveiro / tomada com falha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983480" y="3044952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• Vazamento aparente (sifão, torneira, registro)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983480" y="3538728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• Troca de lâmpadas convencionais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983480" y="4032504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• Kit caixa acoplada com </a:t>
            </a:r>
            <a:r>
              <a:rPr lang="en-US" sz="1100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vazamento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983480" y="4343400"/>
            <a:ext cx="3657600" cy="2925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4983480" y="4343400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Acionamento direto: (48) 99935-9366 — Atendimento 24h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457200" y="0"/>
            <a:ext cx="8412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Visão Geral — Processo de Sinistro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274320" y="1280160"/>
            <a:ext cx="960120" cy="1005840"/>
          </a:xfrm>
          <a:prstGeom prst="rect">
            <a:avLst/>
          </a:prstGeom>
          <a:solidFill>
            <a:srgbClr val="1E5FAD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274320" y="1316736"/>
            <a:ext cx="960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274320" y="1664208"/>
            <a:ext cx="960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Solicitar</a:t>
            </a:r>
            <a:endParaRPr b="1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Apólice</a:t>
            </a:r>
            <a:endParaRPr b="1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1016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6"/>
          <p:cNvSpPr/>
          <p:nvPr/>
        </p:nvSpPr>
        <p:spPr>
          <a:xfrm>
            <a:off x="1371600" y="1280160"/>
            <a:ext cx="960120" cy="1005840"/>
          </a:xfrm>
          <a:prstGeom prst="rect">
            <a:avLst/>
          </a:prstGeom>
          <a:solidFill>
            <a:srgbClr val="0D7377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1371600" y="1316736"/>
            <a:ext cx="960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1371600" y="1664208"/>
            <a:ext cx="960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Preencher</a:t>
            </a:r>
            <a:endParaRPr b="1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Link</a:t>
            </a:r>
            <a:endParaRPr b="1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" name="Google Shape;9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8296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6"/>
          <p:cNvSpPr/>
          <p:nvPr/>
        </p:nvSpPr>
        <p:spPr>
          <a:xfrm>
            <a:off x="2468880" y="1280160"/>
            <a:ext cx="960120" cy="1005840"/>
          </a:xfrm>
          <a:prstGeom prst="rect">
            <a:avLst/>
          </a:prstGeom>
          <a:solidFill>
            <a:srgbClr val="1A2B5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2468880" y="1316736"/>
            <a:ext cx="960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2468880" y="1664208"/>
            <a:ext cx="960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Protocolo</a:t>
            </a:r>
            <a:endParaRPr b="1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Seguradora</a:t>
            </a:r>
            <a:endParaRPr b="1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5576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/>
          <p:nvPr/>
        </p:nvSpPr>
        <p:spPr>
          <a:xfrm>
            <a:off x="3566160" y="1280160"/>
            <a:ext cx="960120" cy="1005840"/>
          </a:xfrm>
          <a:prstGeom prst="rect">
            <a:avLst/>
          </a:prstGeom>
          <a:solidFill>
            <a:srgbClr val="D4622A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3566160" y="1316736"/>
            <a:ext cx="960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566160" y="1664208"/>
            <a:ext cx="960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Curadoria</a:t>
            </a:r>
            <a:endParaRPr b="1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Docs</a:t>
            </a:r>
            <a:endParaRPr b="1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2856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/>
          <p:nvPr/>
        </p:nvSpPr>
        <p:spPr>
          <a:xfrm>
            <a:off x="4663440" y="1280160"/>
            <a:ext cx="960120" cy="1005840"/>
          </a:xfrm>
          <a:prstGeom prst="rect">
            <a:avLst/>
          </a:prstGeom>
          <a:solidFill>
            <a:srgbClr val="1E5FAD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4663440" y="1316736"/>
            <a:ext cx="960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663440" y="1664208"/>
            <a:ext cx="960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Análise</a:t>
            </a:r>
            <a:endParaRPr b="1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15–30 dias</a:t>
            </a:r>
            <a:endParaRPr b="1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" name="Google Shape;10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0136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6"/>
          <p:cNvSpPr/>
          <p:nvPr/>
        </p:nvSpPr>
        <p:spPr>
          <a:xfrm>
            <a:off x="5760720" y="1280160"/>
            <a:ext cx="960120" cy="1005840"/>
          </a:xfrm>
          <a:prstGeom prst="rect">
            <a:avLst/>
          </a:prstGeom>
          <a:solidFill>
            <a:srgbClr val="1A7A4A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5760720" y="1316736"/>
            <a:ext cx="960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760720" y="1664208"/>
            <a:ext cx="960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Termo de</a:t>
            </a:r>
            <a:endParaRPr b="1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Pagamento</a:t>
            </a:r>
            <a:endParaRPr b="1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7416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6858000" y="1280160"/>
            <a:ext cx="960120" cy="1005840"/>
          </a:xfrm>
          <a:prstGeom prst="rect">
            <a:avLst/>
          </a:prstGeom>
          <a:solidFill>
            <a:srgbClr val="0D7377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6858000" y="1316736"/>
            <a:ext cx="960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858000" y="1664208"/>
            <a:ext cx="960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Assinatura</a:t>
            </a:r>
            <a:endParaRPr b="1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Osvaldo</a:t>
            </a:r>
            <a:endParaRPr b="1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" name="Google Shape;11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4696" y="1600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/>
          <p:nvPr/>
        </p:nvSpPr>
        <p:spPr>
          <a:xfrm>
            <a:off x="7955280" y="1280160"/>
            <a:ext cx="960120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7955280" y="1316736"/>
            <a:ext cx="960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7955280" y="1664208"/>
            <a:ext cx="960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Pagamento</a:t>
            </a:r>
            <a:endParaRPr b="1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30 dias</a:t>
            </a:r>
            <a:endParaRPr b="1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274320" y="2560320"/>
            <a:ext cx="859536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57200" y="2587752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Passo 1 — Solicitar a Apólice à Grisiele (CR)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57200" y="2816352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Antes de qualquer ação, peça a apólice vigente do cliente à Grisiele na Crédito Real. Verifique qual cobertura está ativa.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274320" y="3200400"/>
            <a:ext cx="859536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457200" y="3227832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Passo 2 — Preencher o Link de Abertura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57200" y="3456432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Acesse: imobseguros.bitrix24.site/app-sinistro-seguro-residencial — Preencha as 7 páginas conforme o guia (a seguir).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274320" y="3840480"/>
            <a:ext cx="859536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457200" y="3867912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Passos 3 e 4 — Protocolo + Curadoria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57200" y="4096512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Após o registro, a Lado Bom entra em contato com a seguradora e inicia a curadoria dos documentos. A Manuela faz o acompanhamento.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274320" y="4480560"/>
            <a:ext cx="859536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457200" y="4507992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Passos 5 a 8 — Análise, Assinatura e Pagamento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57200" y="4736592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Seguradora analisa em 15–30 dias. Aprovado, Manuela envia o termo ao Osvaldo. Após assinatura, pagamento em até 30 dias.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33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457200" y="0"/>
            <a:ext cx="8412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Passo 1 — Solicitar a Apólice à Grisiele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50" y="1085855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7"/>
          <p:cNvSpPr/>
          <p:nvPr/>
        </p:nvSpPr>
        <p:spPr>
          <a:xfrm>
            <a:off x="1188840" y="1154430"/>
            <a:ext cx="7589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400"/>
              <a:buFont typeface="Calibri"/>
              <a:buNone/>
            </a:pPr>
            <a:r>
              <a:rPr b="1" i="0" lang="en-US" sz="18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Antes de registrar qualquer sinistro, você precisa ter a apólice em mãos.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365760" y="1943095"/>
            <a:ext cx="8412600" cy="713100"/>
          </a:xfrm>
          <a:prstGeom prst="rect">
            <a:avLst/>
          </a:prstGeom>
          <a:solidFill>
            <a:srgbClr val="FFF8EE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548640" y="2007103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💻</a:t>
            </a:r>
            <a:r>
              <a:rPr b="1" i="0" lang="en-US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 Contate a </a:t>
            </a:r>
            <a:r>
              <a:rPr b="1" lang="en-US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Grazielle</a:t>
            </a:r>
            <a:r>
              <a:rPr b="1" i="0" lang="en-US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 (Crédito Real) informando: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548640" y="2317999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Nome do segurado  •  Endereço do imóvel  •  </a:t>
            </a:r>
            <a:r>
              <a:rPr lang="en-US" sz="1350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Código do Imóvel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365760" y="2788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O que você precisa checar na apólice: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285" y="32782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/>
          <p:nvPr/>
        </p:nvSpPr>
        <p:spPr>
          <a:xfrm>
            <a:off x="786333" y="3241684"/>
            <a:ext cx="1463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Nome do segurado: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2377423" y="3243871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Deve ser o mesmo que aparece na apólice — use exatamente este nome no formulário.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285" y="37354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/>
          <p:nvPr/>
        </p:nvSpPr>
        <p:spPr>
          <a:xfrm>
            <a:off x="786333" y="3698884"/>
            <a:ext cx="1463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Coberturas contratadas: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2377423" y="3698884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Incêndio prédial? Conteúdo? Vendaval? Danos elétricos? Responsabilidade Civil?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9" name="Google Shape;14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285" y="41926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/>
          <p:nvPr/>
        </p:nvSpPr>
        <p:spPr>
          <a:xfrm>
            <a:off x="786333" y="4156084"/>
            <a:ext cx="1463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Vigência: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2377423" y="4156084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Confirme que a apólice está ativa na data do sinistro.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2" name="Google Shape;15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285" y="46498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/>
          <p:nvPr/>
        </p:nvSpPr>
        <p:spPr>
          <a:xfrm>
            <a:off x="786333" y="4613284"/>
            <a:ext cx="1463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Número da apólice: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2377423" y="4613284"/>
            <a:ext cx="649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Será solicitado durante o registro e pela seguradora.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457200" y="0"/>
            <a:ext cx="8412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Passo 2 — Preencher o Link de Abertura de Sinistro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365760" y="960120"/>
            <a:ext cx="8412480" cy="56692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502920" y="960120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🔗  imobseguros.bitrix24.site/app-sinistro-seguro-residencial</a:t>
            </a:r>
            <a:endParaRPr b="0" i="0" sz="1600" u="none" cap="none" strike="noStrike">
              <a:solidFill>
                <a:srgbClr val="1A2B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347472" y="1719072"/>
            <a:ext cx="406908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347472" y="1719072"/>
            <a:ext cx="777240" cy="987552"/>
          </a:xfrm>
          <a:prstGeom prst="rect">
            <a:avLst/>
          </a:prstGeom>
          <a:solidFill>
            <a:srgbClr val="1E5F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347472" y="1719072"/>
            <a:ext cx="777240" cy="987552"/>
          </a:xfrm>
          <a:prstGeom prst="rect">
            <a:avLst/>
          </a:prstGeom>
          <a:solidFill>
            <a:srgbClr val="BEA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Pág.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216152" y="1792224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Quem está abrindo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216152" y="2103120"/>
            <a:ext cx="3063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Nome e e-mail de quem faz o registro. Se for a CR: nome e e-mail da assessora.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690872" y="1719072"/>
            <a:ext cx="406908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4690872" y="1719072"/>
            <a:ext cx="777240" cy="9875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4690872" y="1719072"/>
            <a:ext cx="777240" cy="987552"/>
          </a:xfrm>
          <a:prstGeom prst="rect">
            <a:avLst/>
          </a:prstGeom>
          <a:solidFill>
            <a:srgbClr val="BEA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Pág.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5559552" y="1792224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Dados do Segurado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559552" y="2103120"/>
            <a:ext cx="3063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Categoria, nome, CPF/CNPJ, telefone e e-mail — exatamente como está na apólice.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47472" y="2816352"/>
            <a:ext cx="406908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347472" y="2816352"/>
            <a:ext cx="777240" cy="987552"/>
          </a:xfrm>
          <a:prstGeom prst="rect">
            <a:avLst/>
          </a:prstGeom>
          <a:solidFill>
            <a:srgbClr val="1A2B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347472" y="2816352"/>
            <a:ext cx="777240" cy="987552"/>
          </a:xfrm>
          <a:prstGeom prst="rect">
            <a:avLst/>
          </a:prstGeom>
          <a:solidFill>
            <a:srgbClr val="BEA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Pág.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216152" y="2889504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Dados do Sinistro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1216152" y="3200400"/>
            <a:ext cx="3063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Seguradora, cobertura acionada, data/hora, relato completo do ocorrido, itens avariados e valor estimado. Inclua o endereço completo no relato.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690872" y="2816352"/>
            <a:ext cx="406908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4690872" y="2816352"/>
            <a:ext cx="777240" cy="987552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4690872" y="2816352"/>
            <a:ext cx="777240" cy="987552"/>
          </a:xfrm>
          <a:prstGeom prst="rect">
            <a:avLst/>
          </a:prstGeom>
          <a:solidFill>
            <a:srgbClr val="BEA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Pág.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5559552" y="2889504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Endereço do Ocorrido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5559552" y="3200400"/>
            <a:ext cx="3063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Preencha rua, número, bairro, cidade, estado e CEP — mesmo que já tenha colocado no relato.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347472" y="3913632"/>
            <a:ext cx="406908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347472" y="3913632"/>
            <a:ext cx="777240" cy="987552"/>
          </a:xfrm>
          <a:prstGeom prst="rect">
            <a:avLst/>
          </a:prstGeom>
          <a:solidFill>
            <a:srgbClr val="5A6A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347472" y="3913632"/>
            <a:ext cx="777240" cy="987552"/>
          </a:xfrm>
          <a:prstGeom prst="rect">
            <a:avLst/>
          </a:prstGeom>
          <a:solidFill>
            <a:srgbClr val="BEA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Pág.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216152" y="3986784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Dados Bancários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1216152" y="4297680"/>
            <a:ext cx="3063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Não é obrigatório preencher .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690872" y="3913632"/>
            <a:ext cx="4069080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4690872" y="3913632"/>
            <a:ext cx="777240" cy="987552"/>
          </a:xfrm>
          <a:prstGeom prst="rect">
            <a:avLst/>
          </a:prstGeom>
          <a:solidFill>
            <a:srgbClr val="5A6A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4690872" y="3913632"/>
            <a:ext cx="777240" cy="987552"/>
          </a:xfrm>
          <a:prstGeom prst="rect">
            <a:avLst/>
          </a:prstGeom>
          <a:solidFill>
            <a:srgbClr val="BEA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Pág. 6–7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559552" y="3986784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Documentos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5559552" y="4297680"/>
            <a:ext cx="3063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Anexe se já tiver. </a:t>
            </a:r>
            <a:r>
              <a:rPr b="1" i="0" lang="en-US" sz="10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Não é obrigatório agora </a:t>
            </a:r>
            <a:r>
              <a:rPr b="0" i="0" lang="en-US" sz="10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— a Manuela fará a curadoria depois.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457200" y="0"/>
            <a:ext cx="8412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Passos 3 e 4 — Protocolo e Curadoria de Documentos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Após o preenchimento do link, a Lado Bom entra em ação: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347472" y="1417320"/>
            <a:ext cx="406908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347472" y="1417320"/>
            <a:ext cx="4069080" cy="54864"/>
          </a:xfrm>
          <a:prstGeom prst="rect">
            <a:avLst/>
          </a:prstGeom>
          <a:solidFill>
            <a:srgbClr val="1A2B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502920" y="150876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📋  PROTOCOLO — Lado Bom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02920" y="1965960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→  Recebe o registro via sistema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02920" y="2624328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→  Contata a seguradora abrindo o processo formal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502920" y="3282696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→  Obtém número de protocolo do sinistro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502920" y="3941064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→  Inicia a lista de documentos necessários conforme a cobertura acionada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4727448" y="1417320"/>
            <a:ext cx="406908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4727448" y="1417320"/>
            <a:ext cx="4069080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4882896" y="150876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🔍  CURADORIA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882896" y="1965960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→  Entra em contato com o cliente/CR solicitando os documentos faltantes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882896" y="2624328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→  Confere se os orçamentos têm mão de obra e material separados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882896" y="3282696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→  Verifica se as fotos estão claras e cobrindo os danos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882896" y="3941064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→  Só envia para análise quando a documentação estiver completa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347472" y="4828032"/>
            <a:ext cx="8449056" cy="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457200" y="0"/>
            <a:ext cx="8412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Documentação Base — Obrigatória em Todos os Sinistros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Independente da cobertura acionada, estes documentos são sempre necessários: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347472" y="1463040"/>
            <a:ext cx="406908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347472" y="1463040"/>
            <a:ext cx="4069080" cy="54864"/>
          </a:xfrm>
          <a:prstGeom prst="rect">
            <a:avLst/>
          </a:prstGeom>
          <a:solidFill>
            <a:srgbClr val="1E5F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7" name="Google Shape;2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64" y="166420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0"/>
          <p:cNvSpPr/>
          <p:nvPr/>
        </p:nvSpPr>
        <p:spPr>
          <a:xfrm>
            <a:off x="969264" y="1627632"/>
            <a:ext cx="33192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CPF do Segurado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512064" y="2103120"/>
            <a:ext cx="3794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Cópia legível do CPF — exatamente o nome que está na apólice.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4690872" y="1463040"/>
            <a:ext cx="406908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4690872" y="1463040"/>
            <a:ext cx="4069080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2" name="Google Shape;23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5464" y="166420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0"/>
          <p:cNvSpPr/>
          <p:nvPr/>
        </p:nvSpPr>
        <p:spPr>
          <a:xfrm>
            <a:off x="5312664" y="1627632"/>
            <a:ext cx="33192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Comprovante de Endereço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855464" y="2103120"/>
            <a:ext cx="3794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Conta de luz ou documento oficial com o endereço do imóvel sinistrado.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347472" y="2606040"/>
            <a:ext cx="406908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347472" y="2606040"/>
            <a:ext cx="4069080" cy="54864"/>
          </a:xfrm>
          <a:prstGeom prst="rect">
            <a:avLst/>
          </a:prstGeom>
          <a:solidFill>
            <a:srgbClr val="1A2B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7" name="Google Shape;23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64" y="280720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0"/>
          <p:cNvSpPr/>
          <p:nvPr/>
        </p:nvSpPr>
        <p:spPr>
          <a:xfrm>
            <a:off x="969264" y="2770632"/>
            <a:ext cx="33192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Contrato com a CR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512064" y="3246120"/>
            <a:ext cx="3794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Cópia do contrato de locação ou administração com a Crédito Real.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4690872" y="2606040"/>
            <a:ext cx="406908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4690872" y="2606040"/>
            <a:ext cx="4069080" cy="54864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" name="Google Shape;24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5464" y="280720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0"/>
          <p:cNvSpPr/>
          <p:nvPr/>
        </p:nvSpPr>
        <p:spPr>
          <a:xfrm>
            <a:off x="5312664" y="2770632"/>
            <a:ext cx="33192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Fotos dos Danos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855464" y="3246120"/>
            <a:ext cx="37947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Obrigatório. Fotos claras mostrando todos os itens avariados e o local do sinistro.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347472" y="3657600"/>
            <a:ext cx="8449056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347472" y="3657600"/>
            <a:ext cx="8449056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7" name="Google Shape;247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2064" y="38587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0"/>
          <p:cNvSpPr/>
          <p:nvPr/>
        </p:nvSpPr>
        <p:spPr>
          <a:xfrm>
            <a:off x="969264" y="3822192"/>
            <a:ext cx="76992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Orçamento Detalhado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512064" y="4297680"/>
            <a:ext cx="8174736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Deve conter mão de obra e material com valores separados. Deve estar assinado pelo prestador.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347472" y="3657600"/>
            <a:ext cx="8449056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457200" y="0"/>
            <a:ext cx="8412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Documentos Adicionais por Tipo de Cobertura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347472" y="960120"/>
            <a:ext cx="40690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347472" y="960120"/>
            <a:ext cx="4069080" cy="384048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484632" y="96012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🌪️  Vendaval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484632" y="1435608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• Laudo Meteorológico ou matéria de imprensa da data do ocorrido (pode buscar no Google, printar e enviar)</a:t>
            </a:r>
            <a:br>
              <a:rPr b="0" i="0" lang="en-US" sz="105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050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50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OBS: Somente ventos acima de 54km/h</a:t>
            </a:r>
            <a:endParaRPr b="1" sz="1050">
              <a:solidFill>
                <a:srgbClr val="5A6A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484632" y="2220976"/>
            <a:ext cx="3840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• Orçamento discriminado: mão de obra + material separados, assinado pelo prestador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4690872" y="960120"/>
            <a:ext cx="40690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4690872" y="960120"/>
            <a:ext cx="406908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4828032" y="96012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🔥  Incêndio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4828025" y="1435601"/>
            <a:ext cx="3840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• Boletim do Corpo de Bombeiros (se acionado)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4828032" y="2093976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• Para parte predial: escritura, certidão de registro e matrícula </a:t>
            </a:r>
            <a:r>
              <a:rPr b="1" i="0" lang="en-US" sz="105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atualizada</a:t>
            </a:r>
            <a:r>
              <a:rPr b="0" i="0" lang="en-US" sz="105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 do imóvel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347472" y="2926080"/>
            <a:ext cx="40690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347472" y="2926080"/>
            <a:ext cx="4069080" cy="384048"/>
          </a:xfrm>
          <a:prstGeom prst="rect">
            <a:avLst/>
          </a:prstGeom>
          <a:solidFill>
            <a:srgbClr val="1E5F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484632" y="292608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Danos Elétricos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461713" y="3401571"/>
            <a:ext cx="3840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• Laudo técnico de prestador especializado indicando a causa do dano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461713" y="4147291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• Orçamento discriminado: mão de obra + material separados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4690872" y="2926080"/>
            <a:ext cx="40690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4690872" y="2926080"/>
            <a:ext cx="4069080" cy="38404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4828032" y="292608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🏢  Segurado é Empresa/CNPJ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4828032" y="3401568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• Contrato Social ou Estatuto Social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4805120" y="3730761"/>
            <a:ext cx="3840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• CPF dos sócios, dirigentes ou síndico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347472" y="4681728"/>
            <a:ext cx="8449056" cy="347472"/>
          </a:xfrm>
          <a:prstGeom prst="rect">
            <a:avLst/>
          </a:prstGeom>
          <a:solidFill>
            <a:srgbClr val="FFF8EE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502920" y="468172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050"/>
              <a:buFont typeface="Calibri"/>
              <a:buNone/>
            </a:pPr>
            <a:r>
              <a:rPr b="1" i="1" lang="en-US" sz="105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⚠️  A análise pela seguradora só começa quando toda a documentação estiver completa. A Manuela acompanhará e solicitará o que faltar.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4805113" y="1732326"/>
            <a:ext cx="3840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050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Laudo</a:t>
            </a:r>
            <a:r>
              <a:rPr b="0" i="0" lang="en-US" sz="105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 do Corpo de Bombeiros (se acionado)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61713" y="3730746"/>
            <a:ext cx="3840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050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Protocolo de atendimento junto a concessionária de energia da região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5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Passos 5 a 8 — Análise, Aprovação e Pagamento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457200" y="730777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O que acontece depois que a documentação está completa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365760" y="1118281"/>
            <a:ext cx="8412600" cy="804600"/>
          </a:xfrm>
          <a:prstGeom prst="roundRect">
            <a:avLst>
              <a:gd fmla="val 16667" name="adj"/>
            </a:avLst>
          </a:prstGeom>
          <a:solidFill>
            <a:srgbClr val="263C7A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365760" y="1118281"/>
            <a:ext cx="1097400" cy="804600"/>
          </a:xfrm>
          <a:prstGeom prst="roundRect">
            <a:avLst>
              <a:gd fmla="val 16667" name="adj"/>
            </a:avLst>
          </a:prstGeom>
          <a:solidFill>
            <a:srgbClr val="1E5F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365760" y="1118281"/>
            <a:ext cx="1097400" cy="804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PASSO 5</a:t>
            </a:r>
            <a:endParaRPr b="0" i="0" sz="1100" u="none" cap="none" strike="noStrike">
              <a:solidFill>
                <a:srgbClr val="1A2B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1600200" y="1191433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Análise da Seguradora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1600200" y="1520617"/>
            <a:ext cx="5029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Após toda documentação entregue, a seguradora tem de 15 a 30 dias para analisar o processo.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6766560" y="1319449"/>
            <a:ext cx="1874400" cy="402300"/>
          </a:xfrm>
          <a:prstGeom prst="rect">
            <a:avLst/>
          </a:prstGeom>
          <a:solidFill>
            <a:srgbClr val="1E5F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6766560" y="1319449"/>
            <a:ext cx="1874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⏱ 15 a 30 dias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365760" y="2032681"/>
            <a:ext cx="8412600" cy="804600"/>
          </a:xfrm>
          <a:prstGeom prst="roundRect">
            <a:avLst>
              <a:gd fmla="val 16667" name="adj"/>
            </a:avLst>
          </a:prstGeom>
          <a:solidFill>
            <a:srgbClr val="263C7A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365760" y="2032681"/>
            <a:ext cx="1097400" cy="804600"/>
          </a:xfrm>
          <a:prstGeom prst="roundRect">
            <a:avLst>
              <a:gd fmla="val 16667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365760" y="2032681"/>
            <a:ext cx="1097400" cy="804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PASSO 6</a:t>
            </a:r>
            <a:endParaRPr b="0" i="0" sz="1100" u="none" cap="none" strike="noStrike">
              <a:solidFill>
                <a:srgbClr val="1A2B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1600200" y="2105833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Aprovação e Termo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1600200" y="2435017"/>
            <a:ext cx="5029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Se aprovado, a seguradora emite o Termo de Pagamento. A Manuela recebe e envia ao Osvaldo.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6766560" y="2233849"/>
            <a:ext cx="1874400" cy="4023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6766560" y="2233849"/>
            <a:ext cx="1874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📄 Manuela → Osvaldo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365760" y="2947081"/>
            <a:ext cx="8412600" cy="804600"/>
          </a:xfrm>
          <a:prstGeom prst="roundRect">
            <a:avLst>
              <a:gd fmla="val 16667" name="adj"/>
            </a:avLst>
          </a:prstGeom>
          <a:solidFill>
            <a:srgbClr val="263C7A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365760" y="2947081"/>
            <a:ext cx="1097400" cy="804600"/>
          </a:xfrm>
          <a:prstGeom prst="roundRect">
            <a:avLst>
              <a:gd fmla="val 16667" name="adj"/>
            </a:avLst>
          </a:prstGeom>
          <a:solidFill>
            <a:srgbClr val="D462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365760" y="2947081"/>
            <a:ext cx="1097400" cy="804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PASSO 7</a:t>
            </a:r>
            <a:endParaRPr b="0" i="0" sz="1100" u="none" cap="none" strike="noStrike">
              <a:solidFill>
                <a:srgbClr val="1A2B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1600200" y="3020233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Assinatura do Osvaldo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1600200" y="3349417"/>
            <a:ext cx="5029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Osvaldo assina o Termo de Pagamento. A assinatura autoriza o pagamento pela seguradora.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6766560" y="3148249"/>
            <a:ext cx="1874400" cy="40230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6766560" y="3148249"/>
            <a:ext cx="1874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✍️  Osvaldo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365760" y="3861481"/>
            <a:ext cx="8412600" cy="804600"/>
          </a:xfrm>
          <a:prstGeom prst="roundRect">
            <a:avLst>
              <a:gd fmla="val 16667" name="adj"/>
            </a:avLst>
          </a:prstGeom>
          <a:solidFill>
            <a:srgbClr val="263C7A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365760" y="3861481"/>
            <a:ext cx="1097400" cy="804600"/>
          </a:xfrm>
          <a:prstGeom prst="roundRect">
            <a:avLst>
              <a:gd fmla="val 16667" name="adj"/>
            </a:avLst>
          </a:prstGeom>
          <a:solidFill>
            <a:srgbClr val="1A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365760" y="3861481"/>
            <a:ext cx="1097400" cy="804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PASSO 8</a:t>
            </a:r>
            <a:endParaRPr b="0" i="0" sz="1100" u="none" cap="none" strike="noStrike">
              <a:solidFill>
                <a:srgbClr val="1A2B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1600200" y="3934633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Pagamento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1600200" y="4263817"/>
            <a:ext cx="5029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Com o termo assinado, a seguradora tem até 30 dias para realizar o pagamento ao segurado.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6766560" y="4062649"/>
            <a:ext cx="1874400" cy="4023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6766560" y="4062649"/>
            <a:ext cx="1874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💰 até 30 dias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365760" y="4828032"/>
            <a:ext cx="8412480" cy="219456"/>
          </a:xfrm>
          <a:prstGeom prst="rect">
            <a:avLst/>
          </a:prstGeom>
          <a:solidFill>
            <a:srgbClr val="FAE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457200" y="482803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Total estimado do processo: de 45 a 90 dias do registro até o pagamento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33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457200" y="0"/>
            <a:ext cx="8412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Como Acionar a Assistência 24h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1371600" y="1005840"/>
            <a:ext cx="6400800" cy="1024128"/>
          </a:xfrm>
          <a:prstGeom prst="rect">
            <a:avLst/>
          </a:prstGeom>
          <a:solidFill>
            <a:srgbClr val="1A2B5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1371600" y="1005840"/>
            <a:ext cx="6400800" cy="1024128"/>
          </a:xfrm>
          <a:prstGeom prst="rect">
            <a:avLst/>
          </a:prstGeom>
          <a:solidFill>
            <a:srgbClr val="FAE1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📞  (48) 99935-9366</a:t>
            </a:r>
            <a:endParaRPr b="0" i="0" sz="3200" u="none" cap="none" strike="noStrike">
              <a:solidFill>
                <a:srgbClr val="1A2B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1371600" y="2084832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Atendimento 24 horas — 7 dias por semana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365760" y="2578608"/>
            <a:ext cx="8412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Este número pode ser repassado diretamente ao cliente para que ele mesmo acione em caso de emergência.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868680" y="3191256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Cliente liga para (48) 99935-9366 —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2981940" y="3172931"/>
            <a:ext cx="571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Pode ser o próprio morador, síndico ou assessora.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365760" y="3611880"/>
            <a:ext cx="384048" cy="38404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365760" y="36118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868670" y="3648450"/>
            <a:ext cx="4262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Informa o endereço</a:t>
            </a:r>
            <a:r>
              <a:rPr b="1" lang="en-US" sz="1100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, nome do segurado e cpf </a:t>
            </a:r>
            <a:r>
              <a:rPr b="1" i="0" lang="en-US" sz="11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 e a situação —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4467840" y="3639281"/>
            <a:ext cx="571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Descreva claramente o problema para agilizar o atendimento.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365760" y="4069080"/>
            <a:ext cx="384048" cy="38404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365760" y="40690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868673" y="4105650"/>
            <a:ext cx="3034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Central verifica a apólice e aciona o prestador —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3736965" y="4105644"/>
            <a:ext cx="571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O prestador parceiro mais próximo é acionado.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365760" y="4526280"/>
            <a:ext cx="384048" cy="38404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365760" y="45262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868680" y="4562856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Prestador chega ao local e resolve —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3063240" y="4562881"/>
            <a:ext cx="571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Serviço coberto pela apólice — sem custo adicional para o segurado.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B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457200" y="0"/>
            <a:ext cx="8412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Tipos de Assistência Disponíveis na Apólice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320050" y="960125"/>
            <a:ext cx="8503800" cy="1287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320050" y="960125"/>
            <a:ext cx="1371600" cy="12879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5" name="Google Shape;3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0972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4"/>
          <p:cNvSpPr/>
          <p:nvPr/>
        </p:nvSpPr>
        <p:spPr>
          <a:xfrm>
            <a:off x="1828800" y="1024128"/>
            <a:ext cx="6675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CHAVEIRO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1828810" y="1375571"/>
            <a:ext cx="6766500" cy="7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Abertura da porta principal do imóvel em casos de emergência (chave perdida, fechadura travada, etc.).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Não cobre troca ou instalação de fechaduras — apenas a abertura emergencial.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320050" y="2436025"/>
            <a:ext cx="8503800" cy="120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320050" y="2436025"/>
            <a:ext cx="1371600" cy="1208700"/>
          </a:xfrm>
          <a:prstGeom prst="rect">
            <a:avLst/>
          </a:prstGeom>
          <a:solidFill>
            <a:srgbClr val="1E5F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257318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4"/>
          <p:cNvSpPr/>
          <p:nvPr/>
        </p:nvSpPr>
        <p:spPr>
          <a:xfrm>
            <a:off x="1828800" y="2500033"/>
            <a:ext cx="6675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ELETRICISTA EMERGENCIAL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1828806" y="2825969"/>
            <a:ext cx="67665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Curto-circuito  •  Problemas com chuveiro elétrico  •  Tomadas com defeito  •  Troca de lâmpadas convencionais (não inclui lâmpadas LED ou especiais).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320050" y="3832724"/>
            <a:ext cx="8503800" cy="112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4"/>
          <p:cNvSpPr/>
          <p:nvPr/>
        </p:nvSpPr>
        <p:spPr>
          <a:xfrm>
            <a:off x="320050" y="3832724"/>
            <a:ext cx="1371600" cy="11202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5" name="Google Shape;36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70" y="3992783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4"/>
          <p:cNvSpPr/>
          <p:nvPr/>
        </p:nvSpPr>
        <p:spPr>
          <a:xfrm>
            <a:off x="1828810" y="3907419"/>
            <a:ext cx="66750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ENCANADOR — Vazamento Aparente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1828810" y="4334243"/>
            <a:ext cx="6766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E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5A6A7E"/>
                </a:solidFill>
                <a:latin typeface="Calibri"/>
                <a:ea typeface="Calibri"/>
                <a:cs typeface="Calibri"/>
                <a:sym typeface="Calibri"/>
              </a:rPr>
              <a:t>Troca de sifão  •  Torneira  •  Registro  •  Tubulação aparente  •  Kit caixa acoplada. Somente vazamentos visíveis/aparentes — não inclui obras em tubulações embutidas.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5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5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Resumo Rápido — O que fazer em cada situação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365760" y="914400"/>
            <a:ext cx="8412480" cy="566928"/>
          </a:xfrm>
          <a:prstGeom prst="rect">
            <a:avLst/>
          </a:prstGeom>
          <a:solidFill>
            <a:srgbClr val="1E3370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5"/>
          <p:cNvSpPr/>
          <p:nvPr/>
        </p:nvSpPr>
        <p:spPr>
          <a:xfrm>
            <a:off x="365760" y="914400"/>
            <a:ext cx="73152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548640" y="987552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🔥 Incêndio / Vendaval 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3858768" y="1005840"/>
            <a:ext cx="164592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3858768" y="100584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SINISTRO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5596128" y="987552"/>
            <a:ext cx="30906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Registrar no link + acionar a Lado Bom + iniciar documentação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365760" y="1581912"/>
            <a:ext cx="8412480" cy="566928"/>
          </a:xfrm>
          <a:prstGeom prst="rect">
            <a:avLst/>
          </a:prstGeom>
          <a:solidFill>
            <a:srgbClr val="1E3370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365760" y="1581912"/>
            <a:ext cx="73152" cy="566928"/>
          </a:xfrm>
          <a:prstGeom prst="rect">
            <a:avLst/>
          </a:prstGeom>
          <a:solidFill>
            <a:srgbClr val="1E5F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548640" y="1655064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Queimou eletrodoméstico (curto)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3858768" y="1673352"/>
            <a:ext cx="1645920" cy="347472"/>
          </a:xfrm>
          <a:prstGeom prst="rect">
            <a:avLst/>
          </a:prstGeom>
          <a:solidFill>
            <a:srgbClr val="1E5F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3858768" y="167335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SINISTRO ou ASSISTÊNCIA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5596128" y="1655064"/>
            <a:ext cx="30906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Verificar cobertura na apólice. Curto com dano pode ser sinistro. Falha na tomada = assistência.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365760" y="2249424"/>
            <a:ext cx="8412480" cy="566928"/>
          </a:xfrm>
          <a:prstGeom prst="rect">
            <a:avLst/>
          </a:prstGeom>
          <a:solidFill>
            <a:srgbClr val="1E3370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365760" y="2249424"/>
            <a:ext cx="73152" cy="56692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548640" y="2322576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🚿 Vazamento no apto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3858768" y="2340864"/>
            <a:ext cx="1645920" cy="34747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3858768" y="2340864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SINISTRO ou ASSISTÊNCIA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5596128" y="2322576"/>
            <a:ext cx="30906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Vazamento aparente = assistência. Se causou dano a outros = sinistro de responsabilidade civil.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365760" y="2916936"/>
            <a:ext cx="8412480" cy="566928"/>
          </a:xfrm>
          <a:prstGeom prst="rect">
            <a:avLst/>
          </a:prstGeom>
          <a:solidFill>
            <a:srgbClr val="1E3370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365760" y="2916936"/>
            <a:ext cx="73152" cy="566928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548640" y="2990088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🔑 Porta trancada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3858768" y="3008376"/>
            <a:ext cx="1645920" cy="347472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5"/>
          <p:cNvSpPr/>
          <p:nvPr/>
        </p:nvSpPr>
        <p:spPr>
          <a:xfrm>
            <a:off x="3858768" y="3008376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ASSISTÊNCIA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5596128" y="2990088"/>
            <a:ext cx="30906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Ligar direto para (48) 99935-9366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365760" y="3584448"/>
            <a:ext cx="8412480" cy="566928"/>
          </a:xfrm>
          <a:prstGeom prst="rect">
            <a:avLst/>
          </a:prstGeom>
          <a:solidFill>
            <a:srgbClr val="1E3370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365760" y="3584448"/>
            <a:ext cx="73152" cy="56692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548640" y="3657600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💧 Vazamento: sifão, torneira, registro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3858768" y="3675888"/>
            <a:ext cx="1645920" cy="34747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5"/>
          <p:cNvSpPr/>
          <p:nvPr/>
        </p:nvSpPr>
        <p:spPr>
          <a:xfrm>
            <a:off x="3858768" y="3675888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ASSISTÊNCIA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5596128" y="3657600"/>
            <a:ext cx="30906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Ligar direto para (48) 99935-9366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365760" y="4251960"/>
            <a:ext cx="8412480" cy="566928"/>
          </a:xfrm>
          <a:prstGeom prst="rect">
            <a:avLst/>
          </a:prstGeom>
          <a:solidFill>
            <a:srgbClr val="1E3370"/>
          </a:solidFill>
          <a:ln>
            <a:noFill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5"/>
          <p:cNvSpPr/>
          <p:nvPr/>
        </p:nvSpPr>
        <p:spPr>
          <a:xfrm>
            <a:off x="365760" y="4251960"/>
            <a:ext cx="73152" cy="56692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5"/>
          <p:cNvSpPr/>
          <p:nvPr/>
        </p:nvSpPr>
        <p:spPr>
          <a:xfrm>
            <a:off x="548640" y="4325112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Troca de lâmpada / chuveiro com defeito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3858768" y="4343400"/>
            <a:ext cx="1645920" cy="34747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5"/>
          <p:cNvSpPr/>
          <p:nvPr/>
        </p:nvSpPr>
        <p:spPr>
          <a:xfrm>
            <a:off x="3858768" y="434340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ASSISTÊNCIA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5596128" y="4325112"/>
            <a:ext cx="30906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Ligar direto para (48) 99935-9366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solidFill>
            <a:srgbClr val="FAE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5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5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B5F"/>
                </a:solidFill>
                <a:latin typeface="Calibri"/>
                <a:ea typeface="Calibri"/>
                <a:cs typeface="Calibri"/>
                <a:sym typeface="Calibri"/>
              </a:rPr>
              <a:t>Dúvida? Fale com a Manuela ou ligue (48) 99935-9366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5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AE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AE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731520" y="640080"/>
            <a:ext cx="76809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Você está pronta para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atender cada sinistro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 confiança.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1828800" y="2603500"/>
            <a:ext cx="5486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AE100"/>
                </a:solidFill>
                <a:latin typeface="Calibri"/>
                <a:ea typeface="Calibri"/>
                <a:cs typeface="Calibri"/>
                <a:sym typeface="Calibri"/>
              </a:rPr>
              <a:t>Lembre-se:</a:t>
            </a:r>
            <a:endParaRPr b="0" i="0" sz="1400" u="none" cap="none" strike="noStrike">
              <a:solidFill>
                <a:srgbClr val="FAE1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914400" y="2818392"/>
            <a:ext cx="73152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Sinistro → Link + Grisiele (apólice) + Documentação → Manuela cuida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D8E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0D8E8"/>
                </a:solidFill>
                <a:latin typeface="Calibri"/>
                <a:ea typeface="Calibri"/>
                <a:cs typeface="Calibri"/>
                <a:sym typeface="Calibri"/>
              </a:rPr>
              <a:t>Assistência → (48) 99935-9366 — 24 horas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1371600" y="3639071"/>
            <a:ext cx="6400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AE100"/>
                </a:solidFill>
                <a:latin typeface="Calibri"/>
                <a:ea typeface="Calibri"/>
                <a:cs typeface="Calibri"/>
                <a:sym typeface="Calibri"/>
              </a:rPr>
              <a:t>📞 Sinistros: (48) 99935-9366     ✉️ contato@ladobomseguros.com.br</a:t>
            </a:r>
            <a:endParaRPr b="0" i="0" sz="1200" u="none" cap="none" strike="noStrike">
              <a:solidFill>
                <a:srgbClr val="FAE1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3" name="Google Shape;423;p16" title="Group 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3775" y="4366181"/>
            <a:ext cx="3716444" cy="37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